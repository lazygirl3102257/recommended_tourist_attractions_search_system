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D2C694-3826-4D6C-8E6C-4055F2506789}">
  <a:tblStyle styleId="{64D2C694-3826-4D6C-8E6C-4055F25067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159812b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159812b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9376582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9376582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a1b988be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a1b988be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159812be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7159812be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844db92c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844db92c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4f5a0c95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44f5a0c95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22aca3fb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722aca3fb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8e6da84a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8e6da84a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8e6da84a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8e6da84a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8e6da84a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8e6da84a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8e6da84a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8e6da84a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8e6da84a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8e6da84a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8e6da84a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8e6da84a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map.tgos.tw/TGOSCloudMap" TargetMode="External"/><Relationship Id="rId4" Type="http://schemas.openxmlformats.org/officeDocument/2006/relationships/hyperlink" Target="https://tdx.transportdata.tw/api-service/swagger/tourism/0aed433a-9e95-404d-974c-4e70e29ae460#/Relation%20%E9%97%9C%E8%81%AF%E8%B3%87%E6%96%99/Tourism_0001" TargetMode="External"/><Relationship Id="rId5" Type="http://schemas.openxmlformats.org/officeDocument/2006/relationships/hyperlink" Target="https://www.travel.taipei/open-api/swagger/ui/index#/Attractions/Attractions_Al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XfSiOcU9gdN1no2kMGXmZv71LXiRcqol/view" TargetMode="External"/><Relationship Id="rId4" Type="http://schemas.openxmlformats.org/officeDocument/2006/relationships/image" Target="../media/image5.jp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6H_WlaEn_NwmQ9aupz25uTYYfd5H6nUM/view" TargetMode="External"/><Relationship Id="rId4" Type="http://schemas.openxmlformats.org/officeDocument/2006/relationships/image" Target="../media/image6.jp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XAWyeT3OonxeFf269uHTkwZ4MLumANoo/view" TargetMode="External"/><Relationship Id="rId4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4p74cExNvIahKE665IlXKnizTWU3a0GH/view" TargetMode="External"/><Relationship Id="rId4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medium.com/@d0988906003/python-%E6%89%BE%E9%A9%9A%E5%96%9C%E9%82%84%E6%98%AF%E6%89%BE%E9%99%84%E8%BF%91-%E8%AE%93-line-%E6%97%85%E9%81%8A%E6%A9%9F%E5%99%A8%E4%BA%BA%E6%8E%A8%E8%96%A6%E6%99%AF%E9%BB%9E%E7%B5%A6%E4%BD%A0-%E4%B8%8A-d68d354bbb0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500">
                <a:solidFill>
                  <a:srgbClr val="1155CC"/>
                </a:solidFill>
                <a:latin typeface="DFKai-SB"/>
                <a:ea typeface="DFKai-SB"/>
                <a:cs typeface="DFKai-SB"/>
                <a:sym typeface="DFKai-SB"/>
              </a:rPr>
              <a:t>地址/地標 → 推薦景點查詢系統</a:t>
            </a:r>
            <a:endParaRPr sz="4500">
              <a:solidFill>
                <a:srgbClr val="1155CC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500">
                <a:solidFill>
                  <a:srgbClr val="1155CC"/>
                </a:solidFill>
                <a:latin typeface="DFKai-SB"/>
                <a:ea typeface="DFKai-SB"/>
                <a:cs typeface="DFKai-SB"/>
                <a:sym typeface="DFKai-SB"/>
              </a:rPr>
              <a:t>成果報告</a:t>
            </a:r>
            <a:endParaRPr sz="4500">
              <a:solidFill>
                <a:srgbClr val="1155CC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162900"/>
            <a:ext cx="8520600" cy="7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4000">
                <a:solidFill>
                  <a:srgbClr val="B45F06"/>
                </a:solidFill>
                <a:latin typeface="DFKai-SB"/>
                <a:ea typeface="DFKai-SB"/>
                <a:cs typeface="DFKai-SB"/>
                <a:sym typeface="DFKai-SB"/>
              </a:rPr>
              <a:t>一、</a:t>
            </a:r>
            <a:r>
              <a:rPr b="1" lang="zh-TW" sz="4000">
                <a:solidFill>
                  <a:srgbClr val="B45F06"/>
                </a:solidFill>
                <a:latin typeface="DFKai-SB"/>
                <a:ea typeface="DFKai-SB"/>
                <a:cs typeface="DFKai-SB"/>
                <a:sym typeface="DFKai-SB"/>
              </a:rPr>
              <a:t>專案簡介</a:t>
            </a:r>
            <a:endParaRPr sz="4000">
              <a:solidFill>
                <a:srgbClr val="B45F06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976625"/>
            <a:ext cx="8520600" cy="4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-331787" lvl="0" marL="457200" rtl="0" algn="l">
              <a:spcBef>
                <a:spcPts val="0"/>
              </a:spcBef>
              <a:spcAft>
                <a:spcPts val="0"/>
              </a:spcAft>
              <a:buClr>
                <a:srgbClr val="4C1130"/>
              </a:buClr>
              <a:buSzPct val="100000"/>
              <a:buFont typeface="DFKai-SB"/>
              <a:buChar char="●"/>
            </a:pPr>
            <a:r>
              <a:rPr lang="zh-TW" sz="2600">
                <a:solidFill>
                  <a:srgbClr val="4C1130"/>
                </a:solidFill>
                <a:latin typeface="DFKai-SB"/>
                <a:ea typeface="DFKai-SB"/>
                <a:cs typeface="DFKai-SB"/>
                <a:sym typeface="DFKai-SB"/>
              </a:rPr>
              <a:t>專案目的</a:t>
            </a:r>
            <a:endParaRPr sz="2600">
              <a:solidFill>
                <a:srgbClr val="4C113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3178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DFKai-SB"/>
              <a:buChar char="○"/>
            </a:pP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整合台灣各縣市Open API與台灣在地景點資料，實作輸入任意地址或地標，即可查詢周邊推薦景點的互動式系統，作為旅遊建議工具。</a:t>
            </a:r>
            <a:endParaRPr sz="2600">
              <a:solidFill>
                <a:srgbClr val="4C113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3178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C1130"/>
              </a:buClr>
              <a:buSzPct val="100000"/>
              <a:buFont typeface="DFKai-SB"/>
              <a:buChar char="●"/>
            </a:pPr>
            <a:r>
              <a:rPr lang="zh-TW" sz="2600">
                <a:solidFill>
                  <a:srgbClr val="4C1130"/>
                </a:solidFill>
                <a:latin typeface="DFKai-SB"/>
                <a:ea typeface="DFKai-SB"/>
                <a:cs typeface="DFKai-SB"/>
                <a:sym typeface="DFKai-SB"/>
              </a:rPr>
              <a:t>使用資料源</a:t>
            </a:r>
            <a:endParaRPr sz="2600">
              <a:solidFill>
                <a:srgbClr val="85200C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31787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DFKai-SB"/>
              <a:buChar char="○"/>
            </a:pP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查詢地址/地標經緯度：TGOS地理資訊整合圖台(</a:t>
            </a:r>
            <a:r>
              <a:rPr lang="zh-TW" sz="2600" u="sng">
                <a:solidFill>
                  <a:schemeClr val="hlink"/>
                </a:solidFill>
                <a:latin typeface="DFKai-SB"/>
                <a:ea typeface="DFKai-SB"/>
                <a:cs typeface="DFKai-SB"/>
                <a:sym typeface="DFKai-SB"/>
                <a:hlinkClick r:id="rId3"/>
              </a:rPr>
              <a:t>https://map.tgos.tw/TGOSCloudMap</a:t>
            </a: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)</a:t>
            </a:r>
            <a:endParaRPr sz="2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31787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DFKai-SB"/>
              <a:buChar char="○"/>
            </a:pP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該經緯度方圓1公里內所有景點：TDX運輸資料流通服務(觀光服務)(</a:t>
            </a:r>
            <a:r>
              <a:rPr lang="zh-TW" sz="2600" u="sng">
                <a:solidFill>
                  <a:schemeClr val="hlink"/>
                </a:solidFill>
                <a:latin typeface="DFKai-SB"/>
                <a:ea typeface="DFKai-SB"/>
                <a:cs typeface="DFKai-SB"/>
                <a:sym typeface="DFKai-SB"/>
                <a:hlinkClick r:id="rId4"/>
              </a:rPr>
              <a:t>https://tdx.transportdata.tw/api-service/swagger/tourism/0aed433a-9e95-404d-974c-4e70e29ae460#/Relation%20%E9%97%9C%E8%81%AF%E8%B3%87%E6%96%99/Tourism_0001</a:t>
            </a: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)</a:t>
            </a:r>
            <a:endParaRPr sz="2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31787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DFKai-SB"/>
              <a:buChar char="○"/>
            </a:pP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景點分類：臺北旅遊網Open API(</a:t>
            </a:r>
            <a:r>
              <a:rPr lang="zh-TW" sz="2600" u="sng">
                <a:solidFill>
                  <a:schemeClr val="hlink"/>
                </a:solidFill>
                <a:latin typeface="DFKai-SB"/>
                <a:ea typeface="DFKai-SB"/>
                <a:cs typeface="DFKai-SB"/>
                <a:sym typeface="DFKai-SB"/>
                <a:hlinkClick r:id="rId5"/>
              </a:rPr>
              <a:t>https://www.travel.taipei/open-api/swagger/ui/index#/Attractions/Attractions_All</a:t>
            </a: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)</a:t>
            </a:r>
            <a:endParaRPr sz="2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3178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C1130"/>
              </a:buClr>
              <a:buSzPct val="100000"/>
              <a:buFont typeface="DFKai-SB"/>
              <a:buChar char="●"/>
            </a:pPr>
            <a:r>
              <a:rPr lang="zh-TW" sz="2600">
                <a:solidFill>
                  <a:srgbClr val="4C1130"/>
                </a:solidFill>
                <a:latin typeface="DFKai-SB"/>
                <a:ea typeface="DFKai-SB"/>
                <a:cs typeface="DFKai-SB"/>
                <a:sym typeface="DFKai-SB"/>
              </a:rPr>
              <a:t>使用技術</a:t>
            </a:r>
            <a:endParaRPr sz="2600">
              <a:solidFill>
                <a:srgbClr val="4C113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31787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DFKai-SB"/>
              <a:buChar char="○"/>
            </a:pP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Selenium, Requests, Pandas, Folium, Geopy</a:t>
            </a:r>
            <a:endParaRPr sz="2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162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4000">
                <a:solidFill>
                  <a:srgbClr val="B45F06"/>
                </a:solidFill>
                <a:latin typeface="DFKai-SB"/>
                <a:ea typeface="DFKai-SB"/>
                <a:cs typeface="DFKai-SB"/>
                <a:sym typeface="DFKai-SB"/>
              </a:rPr>
              <a:t>二</a:t>
            </a:r>
            <a:r>
              <a:rPr lang="zh-TW" sz="4000">
                <a:solidFill>
                  <a:srgbClr val="B45F06"/>
                </a:solidFill>
                <a:latin typeface="DFKai-SB"/>
                <a:ea typeface="DFKai-SB"/>
                <a:cs typeface="DFKai-SB"/>
                <a:sym typeface="DFKai-SB"/>
              </a:rPr>
              <a:t>、</a:t>
            </a:r>
            <a:r>
              <a:rPr b="1" lang="zh-TW" sz="4000">
                <a:solidFill>
                  <a:srgbClr val="B45F06"/>
                </a:solidFill>
                <a:latin typeface="DFKai-SB"/>
                <a:ea typeface="DFKai-SB"/>
                <a:cs typeface="DFKai-SB"/>
                <a:sym typeface="DFKai-SB"/>
              </a:rPr>
              <a:t>流程圖與架構圖-1</a:t>
            </a:r>
            <a:endParaRPr sz="4000">
              <a:solidFill>
                <a:srgbClr val="B45F06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grpSp>
        <p:nvGrpSpPr>
          <p:cNvPr id="66" name="Google Shape;66;p15"/>
          <p:cNvGrpSpPr/>
          <p:nvPr/>
        </p:nvGrpSpPr>
        <p:grpSpPr>
          <a:xfrm>
            <a:off x="2731525" y="900675"/>
            <a:ext cx="5075275" cy="4090900"/>
            <a:chOff x="3317500" y="922375"/>
            <a:chExt cx="5075275" cy="4090900"/>
          </a:xfrm>
        </p:grpSpPr>
        <p:sp>
          <p:nvSpPr>
            <p:cNvPr id="67" name="Google Shape;67;p15"/>
            <p:cNvSpPr/>
            <p:nvPr/>
          </p:nvSpPr>
          <p:spPr>
            <a:xfrm>
              <a:off x="3317500" y="922375"/>
              <a:ext cx="1389000" cy="5727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latin typeface="DFKai-SB"/>
                  <a:ea typeface="DFKai-SB"/>
                  <a:cs typeface="DFKai-SB"/>
                  <a:sym typeface="DFKai-SB"/>
                </a:rPr>
                <a:t>使用者輸入地址/地標</a:t>
              </a:r>
              <a:endParaRPr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3317500" y="1986075"/>
              <a:ext cx="1389000" cy="5727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latin typeface="DFKai-SB"/>
                  <a:ea typeface="DFKai-SB"/>
                  <a:cs typeface="DFKai-SB"/>
                  <a:sym typeface="DFKai-SB"/>
                </a:rPr>
                <a:t>取得座標(lat, lon)</a:t>
              </a:r>
              <a:endParaRPr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cxnSp>
          <p:nvCxnSpPr>
            <p:cNvPr id="69" name="Google Shape;69;p15"/>
            <p:cNvCxnSpPr>
              <a:stCxn id="67" idx="2"/>
              <a:endCxn id="68" idx="0"/>
            </p:cNvCxnSpPr>
            <p:nvPr/>
          </p:nvCxnSpPr>
          <p:spPr>
            <a:xfrm>
              <a:off x="4012000" y="1495075"/>
              <a:ext cx="0" cy="49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0" name="Google Shape;70;p15"/>
            <p:cNvSpPr/>
            <p:nvPr/>
          </p:nvSpPr>
          <p:spPr>
            <a:xfrm>
              <a:off x="3914350" y="1550675"/>
              <a:ext cx="1779600" cy="379800"/>
            </a:xfrm>
            <a:prstGeom prst="trapezoid">
              <a:avLst>
                <a:gd fmla="val 25000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latin typeface="DFKai-SB"/>
                  <a:ea typeface="DFKai-SB"/>
                  <a:cs typeface="DFKai-SB"/>
                  <a:sym typeface="DFKai-SB"/>
                </a:rPr>
                <a:t>地理編碼(TGOS)</a:t>
              </a:r>
              <a:endParaRPr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3317500" y="3049775"/>
              <a:ext cx="1389000" cy="595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latin typeface="DFKai-SB"/>
                  <a:ea typeface="DFKai-SB"/>
                  <a:cs typeface="DFKai-SB"/>
                  <a:sym typeface="DFKai-SB"/>
                </a:rPr>
                <a:t>回傳列表</a:t>
              </a:r>
              <a:r>
                <a:rPr lang="zh-TW" sz="11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（</a:t>
              </a:r>
              <a:r>
                <a:rPr lang="zh-TW" sz="12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景點名稱、位置）</a:t>
              </a:r>
              <a:endParaRPr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4150450" y="2614375"/>
              <a:ext cx="1307400" cy="435600"/>
            </a:xfrm>
            <a:prstGeom prst="trapezoid">
              <a:avLst>
                <a:gd fmla="val 25000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TW">
                  <a:latin typeface="DFKai-SB"/>
                  <a:ea typeface="DFKai-SB"/>
                  <a:cs typeface="DFKai-SB"/>
                  <a:sym typeface="DFKai-SB"/>
                </a:rPr>
                <a:t>TDX觀光服務</a:t>
              </a:r>
              <a:endParaRPr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cxnSp>
          <p:nvCxnSpPr>
            <p:cNvPr id="73" name="Google Shape;73;p15"/>
            <p:cNvCxnSpPr>
              <a:stCxn id="68" idx="2"/>
              <a:endCxn id="71" idx="0"/>
            </p:cNvCxnSpPr>
            <p:nvPr/>
          </p:nvCxnSpPr>
          <p:spPr>
            <a:xfrm>
              <a:off x="4012000" y="2558775"/>
              <a:ext cx="0" cy="49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4" name="Google Shape;74;p15"/>
            <p:cNvSpPr/>
            <p:nvPr/>
          </p:nvSpPr>
          <p:spPr>
            <a:xfrm>
              <a:off x="3317500" y="4113575"/>
              <a:ext cx="1389000" cy="8997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latin typeface="DFKai-SB"/>
                  <a:ea typeface="DFKai-SB"/>
                  <a:cs typeface="DFKai-SB"/>
                  <a:sym typeface="DFKai-SB"/>
                </a:rPr>
                <a:t>回傳</a:t>
              </a:r>
              <a:r>
                <a:rPr lang="zh-TW">
                  <a:latin typeface="DFKai-SB"/>
                  <a:ea typeface="DFKai-SB"/>
                  <a:cs typeface="DFKai-SB"/>
                  <a:sym typeface="DFKai-SB"/>
                </a:rPr>
                <a:t>分類後的</a:t>
              </a:r>
              <a:r>
                <a:rPr lang="zh-TW">
                  <a:latin typeface="DFKai-SB"/>
                  <a:ea typeface="DFKai-SB"/>
                  <a:cs typeface="DFKai-SB"/>
                  <a:sym typeface="DFKai-SB"/>
                </a:rPr>
                <a:t>景點</a:t>
              </a:r>
              <a:r>
                <a:rPr lang="zh-TW">
                  <a:latin typeface="DFKai-SB"/>
                  <a:ea typeface="DFKai-SB"/>
                  <a:cs typeface="DFKai-SB"/>
                  <a:sym typeface="DFKai-SB"/>
                </a:rPr>
                <a:t>列表</a:t>
              </a:r>
              <a:r>
                <a:rPr lang="zh-TW" sz="11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（</a:t>
              </a:r>
              <a:r>
                <a:rPr lang="zh-TW" sz="12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景點名稱、位置、類型、描述）</a:t>
              </a:r>
              <a:endParaRPr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4150450" y="3645275"/>
              <a:ext cx="1307400" cy="435600"/>
            </a:xfrm>
            <a:prstGeom prst="trapezoid">
              <a:avLst>
                <a:gd fmla="val 25000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TW">
                  <a:latin typeface="DFKai-SB"/>
                  <a:ea typeface="DFKai-SB"/>
                  <a:cs typeface="DFKai-SB"/>
                  <a:sym typeface="DFKai-SB"/>
                </a:rPr>
                <a:t>臺北旅遊網</a:t>
              </a:r>
              <a:endParaRPr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cxnSp>
          <p:nvCxnSpPr>
            <p:cNvPr id="76" name="Google Shape;76;p15"/>
            <p:cNvCxnSpPr>
              <a:stCxn id="71" idx="2"/>
              <a:endCxn id="74" idx="0"/>
            </p:cNvCxnSpPr>
            <p:nvPr/>
          </p:nvCxnSpPr>
          <p:spPr>
            <a:xfrm>
              <a:off x="4012000" y="3645275"/>
              <a:ext cx="0" cy="468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7" name="Google Shape;77;p15"/>
            <p:cNvSpPr/>
            <p:nvPr/>
          </p:nvSpPr>
          <p:spPr>
            <a:xfrm>
              <a:off x="5347175" y="3284025"/>
              <a:ext cx="1389000" cy="595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latin typeface="DFKai-SB"/>
                  <a:ea typeface="DFKai-SB"/>
                  <a:cs typeface="DFKai-SB"/>
                  <a:sym typeface="DFKai-SB"/>
                </a:rPr>
                <a:t>整理後的DataFrame</a:t>
              </a:r>
              <a:endParaRPr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cxnSp>
          <p:nvCxnSpPr>
            <p:cNvPr id="78" name="Google Shape;78;p15"/>
            <p:cNvCxnSpPr>
              <a:stCxn id="74" idx="3"/>
              <a:endCxn id="77" idx="2"/>
            </p:cNvCxnSpPr>
            <p:nvPr/>
          </p:nvCxnSpPr>
          <p:spPr>
            <a:xfrm flipH="1" rot="10800000">
              <a:off x="4706500" y="3879425"/>
              <a:ext cx="1335300" cy="6840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" name="Google Shape;79;p15"/>
            <p:cNvCxnSpPr>
              <a:stCxn id="77" idx="2"/>
            </p:cNvCxnSpPr>
            <p:nvPr/>
          </p:nvCxnSpPr>
          <p:spPr>
            <a:xfrm>
              <a:off x="6041675" y="3879525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" name="Google Shape;80;p15"/>
            <p:cNvCxnSpPr>
              <a:endCxn id="77" idx="2"/>
            </p:cNvCxnSpPr>
            <p:nvPr/>
          </p:nvCxnSpPr>
          <p:spPr>
            <a:xfrm rot="10800000">
              <a:off x="6041675" y="3879525"/>
              <a:ext cx="219600" cy="228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" name="Google Shape;81;p15"/>
            <p:cNvCxnSpPr>
              <a:stCxn id="77" idx="2"/>
            </p:cNvCxnSpPr>
            <p:nvPr/>
          </p:nvCxnSpPr>
          <p:spPr>
            <a:xfrm flipH="1">
              <a:off x="5881475" y="3879525"/>
              <a:ext cx="160200" cy="217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2" name="Google Shape;82;p15"/>
            <p:cNvSpPr/>
            <p:nvPr/>
          </p:nvSpPr>
          <p:spPr>
            <a:xfrm>
              <a:off x="6041675" y="4113575"/>
              <a:ext cx="1459200" cy="572700"/>
            </a:xfrm>
            <a:prstGeom prst="trapezoid">
              <a:avLst>
                <a:gd fmla="val 25000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TW">
                  <a:latin typeface="DFKai-SB"/>
                  <a:ea typeface="DFKai-SB"/>
                  <a:cs typeface="DFKai-SB"/>
                  <a:sym typeface="DFKai-SB"/>
                </a:rPr>
                <a:t>資料清理：</a:t>
              </a:r>
              <a:endParaRPr>
                <a:latin typeface="DFKai-SB"/>
                <a:ea typeface="DFKai-SB"/>
                <a:cs typeface="DFKai-SB"/>
                <a:sym typeface="DFKai-SB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TW">
                  <a:latin typeface="DFKai-SB"/>
                  <a:ea typeface="DFKai-SB"/>
                  <a:cs typeface="DFKai-SB"/>
                  <a:sym typeface="DFKai-SB"/>
                </a:rPr>
                <a:t>合併、比對名稱、去重複</a:t>
              </a:r>
              <a:endParaRPr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5347175" y="922375"/>
              <a:ext cx="1389000" cy="5727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latin typeface="DFKai-SB"/>
                  <a:ea typeface="DFKai-SB"/>
                  <a:cs typeface="DFKai-SB"/>
                  <a:sym typeface="DFKai-SB"/>
                </a:rPr>
                <a:t>上傳到GitHub</a:t>
              </a:r>
              <a:endParaRPr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cxnSp>
          <p:nvCxnSpPr>
            <p:cNvPr id="84" name="Google Shape;84;p15"/>
            <p:cNvCxnSpPr>
              <a:stCxn id="77" idx="0"/>
              <a:endCxn id="83" idx="2"/>
            </p:cNvCxnSpPr>
            <p:nvPr/>
          </p:nvCxnSpPr>
          <p:spPr>
            <a:xfrm rot="10800000">
              <a:off x="6041675" y="1495125"/>
              <a:ext cx="0" cy="1788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5" name="Google Shape;85;p15"/>
            <p:cNvSpPr/>
            <p:nvPr/>
          </p:nvSpPr>
          <p:spPr>
            <a:xfrm>
              <a:off x="5347175" y="1930475"/>
              <a:ext cx="1389000" cy="5727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latin typeface="DFKai-SB"/>
                  <a:ea typeface="DFKai-SB"/>
                  <a:cs typeface="DFKai-SB"/>
                  <a:sym typeface="DFKai-SB"/>
                </a:rPr>
                <a:t>輸出最終地圖</a:t>
              </a:r>
              <a:endParaRPr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cxnSp>
          <p:nvCxnSpPr>
            <p:cNvPr id="86" name="Google Shape;86;p15"/>
            <p:cNvCxnSpPr>
              <a:stCxn id="77" idx="0"/>
              <a:endCxn id="85" idx="2"/>
            </p:cNvCxnSpPr>
            <p:nvPr/>
          </p:nvCxnSpPr>
          <p:spPr>
            <a:xfrm rot="10800000">
              <a:off x="6041675" y="2503125"/>
              <a:ext cx="0" cy="780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7" name="Google Shape;87;p15"/>
            <p:cNvSpPr/>
            <p:nvPr/>
          </p:nvSpPr>
          <p:spPr>
            <a:xfrm>
              <a:off x="6261275" y="2517975"/>
              <a:ext cx="2131500" cy="684000"/>
            </a:xfrm>
            <a:prstGeom prst="trapezoid">
              <a:avLst>
                <a:gd fmla="val 25000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TW">
                  <a:latin typeface="DFKai-SB"/>
                  <a:ea typeface="DFKai-SB"/>
                  <a:cs typeface="DFKai-SB"/>
                  <a:sym typeface="DFKai-SB"/>
                </a:rPr>
                <a:t>Folium:</a:t>
              </a:r>
              <a:endParaRPr>
                <a:latin typeface="DFKai-SB"/>
                <a:ea typeface="DFKai-SB"/>
                <a:cs typeface="DFKai-SB"/>
                <a:sym typeface="DFKai-SB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TW">
                  <a:latin typeface="DFKai-SB"/>
                  <a:ea typeface="DFKai-SB"/>
                  <a:cs typeface="DFKai-SB"/>
                  <a:sym typeface="DFKai-SB"/>
                </a:rPr>
                <a:t>MarkerCluster</a:t>
              </a:r>
              <a:endParaRPr>
                <a:latin typeface="DFKai-SB"/>
                <a:ea typeface="DFKai-SB"/>
                <a:cs typeface="DFKai-SB"/>
                <a:sym typeface="DFKai-SB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TW">
                  <a:latin typeface="DFKai-SB"/>
                  <a:ea typeface="DFKai-SB"/>
                  <a:cs typeface="DFKai-SB"/>
                  <a:sym typeface="DFKai-SB"/>
                </a:rPr>
                <a:t>Popup</a:t>
              </a:r>
              <a:endParaRPr>
                <a:latin typeface="DFKai-SB"/>
                <a:ea typeface="DFKai-SB"/>
                <a:cs typeface="DFKai-SB"/>
                <a:sym typeface="DFKai-SB"/>
              </a:endParaRPr>
            </a:p>
          </p:txBody>
        </p:sp>
      </p:grpSp>
      <p:sp>
        <p:nvSpPr>
          <p:cNvPr id="88" name="Google Shape;88;p15"/>
          <p:cNvSpPr txBox="1"/>
          <p:nvPr/>
        </p:nvSpPr>
        <p:spPr>
          <a:xfrm flipH="1">
            <a:off x="1529878" y="1041726"/>
            <a:ext cx="607800" cy="1823100"/>
          </a:xfrm>
          <a:prstGeom prst="rect">
            <a:avLst/>
          </a:prstGeom>
          <a:noFill/>
          <a:ln>
            <a:noFill/>
          </a:ln>
          <a:effectLst>
            <a:reflection blurRad="0" dir="0" dist="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3D85C6"/>
                </a:solidFill>
                <a:latin typeface="DFKai-SB"/>
                <a:ea typeface="DFKai-SB"/>
                <a:cs typeface="DFKai-SB"/>
                <a:sym typeface="DFKai-SB"/>
              </a:rPr>
              <a:t>流</a:t>
            </a:r>
            <a:endParaRPr sz="3600">
              <a:solidFill>
                <a:srgbClr val="3D85C6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3D85C6"/>
                </a:solidFill>
                <a:latin typeface="DFKai-SB"/>
                <a:ea typeface="DFKai-SB"/>
                <a:cs typeface="DFKai-SB"/>
                <a:sym typeface="DFKai-SB"/>
              </a:rPr>
              <a:t>程</a:t>
            </a:r>
            <a:endParaRPr sz="3600">
              <a:solidFill>
                <a:srgbClr val="3D85C6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3D85C6"/>
                </a:solidFill>
                <a:latin typeface="DFKai-SB"/>
                <a:ea typeface="DFKai-SB"/>
                <a:cs typeface="DFKai-SB"/>
                <a:sym typeface="DFKai-SB"/>
              </a:rPr>
              <a:t>圖</a:t>
            </a:r>
            <a:endParaRPr sz="3600">
              <a:solidFill>
                <a:srgbClr val="3D85C6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311700" y="162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4000">
                <a:solidFill>
                  <a:srgbClr val="B45F06"/>
                </a:solidFill>
                <a:latin typeface="DFKai-SB"/>
                <a:ea typeface="DFKai-SB"/>
                <a:cs typeface="DFKai-SB"/>
                <a:sym typeface="DFKai-SB"/>
              </a:rPr>
              <a:t>二、</a:t>
            </a:r>
            <a:r>
              <a:rPr b="1" lang="zh-TW" sz="4000">
                <a:solidFill>
                  <a:srgbClr val="B45F06"/>
                </a:solidFill>
                <a:latin typeface="DFKai-SB"/>
                <a:ea typeface="DFKai-SB"/>
                <a:cs typeface="DFKai-SB"/>
                <a:sym typeface="DFKai-SB"/>
              </a:rPr>
              <a:t>流程圖與架構圖</a:t>
            </a:r>
            <a:r>
              <a:rPr b="1" lang="zh-TW" sz="4000">
                <a:solidFill>
                  <a:srgbClr val="B45F06"/>
                </a:solidFill>
                <a:latin typeface="DFKai-SB"/>
                <a:ea typeface="DFKai-SB"/>
                <a:cs typeface="DFKai-SB"/>
                <a:sym typeface="DFKai-SB"/>
              </a:rPr>
              <a:t>-2</a:t>
            </a:r>
            <a:endParaRPr sz="4000">
              <a:solidFill>
                <a:srgbClr val="B45F06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94" name="Google Shape;94;p16"/>
          <p:cNvSpPr txBox="1"/>
          <p:nvPr/>
        </p:nvSpPr>
        <p:spPr>
          <a:xfrm flipH="1">
            <a:off x="368778" y="1010876"/>
            <a:ext cx="607800" cy="1823100"/>
          </a:xfrm>
          <a:prstGeom prst="rect">
            <a:avLst/>
          </a:prstGeom>
          <a:noFill/>
          <a:ln>
            <a:noFill/>
          </a:ln>
          <a:effectLst>
            <a:reflection blurRad="0" dir="0" dist="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3D85C6"/>
                </a:solidFill>
                <a:latin typeface="DFKai-SB"/>
                <a:ea typeface="DFKai-SB"/>
                <a:cs typeface="DFKai-SB"/>
                <a:sym typeface="DFKai-SB"/>
              </a:rPr>
              <a:t>架</a:t>
            </a:r>
            <a:endParaRPr sz="3600">
              <a:solidFill>
                <a:srgbClr val="3D85C6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3D85C6"/>
                </a:solidFill>
                <a:latin typeface="DFKai-SB"/>
                <a:ea typeface="DFKai-SB"/>
                <a:cs typeface="DFKai-SB"/>
                <a:sym typeface="DFKai-SB"/>
              </a:rPr>
              <a:t>構</a:t>
            </a:r>
            <a:endParaRPr sz="3600">
              <a:solidFill>
                <a:srgbClr val="3D85C6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3D85C6"/>
                </a:solidFill>
                <a:latin typeface="DFKai-SB"/>
                <a:ea typeface="DFKai-SB"/>
                <a:cs typeface="DFKai-SB"/>
                <a:sym typeface="DFKai-SB"/>
              </a:rPr>
              <a:t>圖</a:t>
            </a:r>
            <a:endParaRPr sz="3600">
              <a:solidFill>
                <a:srgbClr val="3D85C6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grpSp>
        <p:nvGrpSpPr>
          <p:cNvPr id="95" name="Google Shape;95;p16"/>
          <p:cNvGrpSpPr/>
          <p:nvPr/>
        </p:nvGrpSpPr>
        <p:grpSpPr>
          <a:xfrm>
            <a:off x="1069138" y="1010875"/>
            <a:ext cx="7244413" cy="3624300"/>
            <a:chOff x="1298500" y="900675"/>
            <a:chExt cx="7244413" cy="3624300"/>
          </a:xfrm>
        </p:grpSpPr>
        <p:sp>
          <p:nvSpPr>
            <p:cNvPr id="96" name="Google Shape;96;p16"/>
            <p:cNvSpPr/>
            <p:nvPr/>
          </p:nvSpPr>
          <p:spPr>
            <a:xfrm>
              <a:off x="1468525" y="900675"/>
              <a:ext cx="3103475" cy="572700"/>
            </a:xfrm>
            <a:prstGeom prst="flowChartInputOutput">
              <a:avLst/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User Input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(Address/Landmark)</a:t>
              </a:r>
              <a:endParaRPr/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1298525" y="1845225"/>
              <a:ext cx="3103475" cy="572700"/>
            </a:xfrm>
            <a:prstGeom prst="flowChartInputOutput">
              <a:avLst/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Geocoder Layer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(TGOS/Google)</a:t>
              </a:r>
              <a:endParaRPr/>
            </a:p>
          </p:txBody>
        </p:sp>
        <p:sp>
          <p:nvSpPr>
            <p:cNvPr id="98" name="Google Shape;98;p16"/>
            <p:cNvSpPr/>
            <p:nvPr/>
          </p:nvSpPr>
          <p:spPr>
            <a:xfrm>
              <a:off x="2676550" y="1507800"/>
              <a:ext cx="347400" cy="3030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6"/>
            <p:cNvSpPr/>
            <p:nvPr/>
          </p:nvSpPr>
          <p:spPr>
            <a:xfrm>
              <a:off x="1298500" y="2833963"/>
              <a:ext cx="3103475" cy="572700"/>
            </a:xfrm>
            <a:prstGeom prst="flowChartInputOutput">
              <a:avLst/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Coordinates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(Lat/Lon)</a:t>
              </a:r>
              <a:endParaRPr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2676525" y="2496538"/>
              <a:ext cx="347400" cy="3030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1298525" y="3822725"/>
              <a:ext cx="3103475" cy="702250"/>
            </a:xfrm>
            <a:prstGeom prst="flowChartInputOutput">
              <a:avLst/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latin typeface="DFKai-SB"/>
                  <a:ea typeface="DFKai-SB"/>
                  <a:cs typeface="DFKai-SB"/>
                  <a:sym typeface="DFKai-SB"/>
                </a:rPr>
                <a:t>API Fetching Layer</a:t>
              </a:r>
              <a:endParaRPr>
                <a:latin typeface="DFKai-SB"/>
                <a:ea typeface="DFKai-SB"/>
                <a:cs typeface="DFKai-SB"/>
                <a:sym typeface="DFKai-SB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latin typeface="DFKai-SB"/>
                  <a:ea typeface="DFKai-SB"/>
                  <a:cs typeface="DFKai-SB"/>
                  <a:sym typeface="DFKai-SB"/>
                </a:rPr>
                <a:t>(TDX景點API/</a:t>
              </a:r>
              <a:endParaRPr>
                <a:latin typeface="DFKai-SB"/>
                <a:ea typeface="DFKai-SB"/>
                <a:cs typeface="DFKai-SB"/>
                <a:sym typeface="DFKai-SB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latin typeface="DFKai-SB"/>
                  <a:ea typeface="DFKai-SB"/>
                  <a:cs typeface="DFKai-SB"/>
                  <a:sym typeface="DFKai-SB"/>
                </a:rPr>
                <a:t>台北旅遊網API)</a:t>
              </a:r>
              <a:endParaRPr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2676538" y="3485300"/>
              <a:ext cx="347400" cy="3030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5140325" y="3887488"/>
              <a:ext cx="3103475" cy="572700"/>
            </a:xfrm>
            <a:prstGeom prst="flowChartInputOutput">
              <a:avLst/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Data Cleaning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(Merge/Filter)</a:t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4401988" y="4087125"/>
              <a:ext cx="607800" cy="3030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6746713" y="3495588"/>
              <a:ext cx="347400" cy="3030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5297913" y="2834000"/>
              <a:ext cx="3103475" cy="572700"/>
            </a:xfrm>
            <a:prstGeom prst="flowChartInputOutput">
              <a:avLst/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Map Rendering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(</a:t>
              </a:r>
              <a:r>
                <a:rPr lang="zh-TW"/>
                <a:t>Folium</a:t>
              </a:r>
              <a:r>
                <a:rPr lang="zh-TW"/>
                <a:t>)</a:t>
              </a:r>
              <a:endParaRPr/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5439438" y="1899750"/>
              <a:ext cx="3103475" cy="572700"/>
            </a:xfrm>
            <a:prstGeom prst="flowChartInputOutput">
              <a:avLst/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Final Interactive Map</a:t>
              </a:r>
              <a:endParaRPr/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6675925" y="2501725"/>
              <a:ext cx="347400" cy="3030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311700" y="206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6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4000">
                <a:solidFill>
                  <a:srgbClr val="B45F06"/>
                </a:solidFill>
                <a:latin typeface="DFKai-SB"/>
                <a:ea typeface="DFKai-SB"/>
                <a:cs typeface="DFKai-SB"/>
                <a:sym typeface="DFKai-SB"/>
              </a:rPr>
              <a:t>三、功能展示-1</a:t>
            </a:r>
            <a:endParaRPr b="1" sz="4000">
              <a:solidFill>
                <a:srgbClr val="B45F06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1130"/>
              </a:buClr>
              <a:buSzPts val="2600"/>
              <a:buFont typeface="DFKai-SB"/>
              <a:buChar char="●"/>
            </a:pPr>
            <a:r>
              <a:rPr lang="zh-TW" sz="2600">
                <a:solidFill>
                  <a:srgbClr val="4C1130"/>
                </a:solidFill>
                <a:latin typeface="DFKai-SB"/>
                <a:ea typeface="DFKai-SB"/>
                <a:cs typeface="DFKai-SB"/>
                <a:sym typeface="DFKai-SB"/>
              </a:rPr>
              <a:t>地址輸入 → 經緯度解析</a:t>
            </a:r>
            <a:endParaRPr sz="2600">
              <a:solidFill>
                <a:srgbClr val="4C113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15" name="Google Shape;115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1130"/>
              </a:buClr>
              <a:buSzPts val="2600"/>
              <a:buFont typeface="DFKai-SB"/>
              <a:buChar char="●"/>
            </a:pPr>
            <a:r>
              <a:rPr lang="zh-TW" sz="2600">
                <a:solidFill>
                  <a:srgbClr val="4C1130"/>
                </a:solidFill>
                <a:latin typeface="DFKai-SB"/>
                <a:ea typeface="DFKai-SB"/>
                <a:cs typeface="DFKai-SB"/>
                <a:sym typeface="DFKai-SB"/>
              </a:rPr>
              <a:t>API 串接 → 回傳景點資料</a:t>
            </a:r>
            <a:endParaRPr sz="2600">
              <a:solidFill>
                <a:srgbClr val="4C113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4C113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7" title="Selenium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950" y="2196774"/>
            <a:ext cx="4391949" cy="23720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17" name="Google Shape;117;p17" title="回傳景點資料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6889" y="2138476"/>
            <a:ext cx="4258862" cy="2372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311700" y="217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600"/>
              </a:spcBef>
              <a:spcAft>
                <a:spcPts val="400"/>
              </a:spcAft>
              <a:buNone/>
            </a:pPr>
            <a:r>
              <a:rPr b="1" lang="zh-TW" sz="4000">
                <a:solidFill>
                  <a:srgbClr val="B45F06"/>
                </a:solidFill>
                <a:latin typeface="DFKai-SB"/>
                <a:ea typeface="DFKai-SB"/>
                <a:cs typeface="DFKai-SB"/>
                <a:sym typeface="DFKai-SB"/>
              </a:rPr>
              <a:t>三</a:t>
            </a:r>
            <a:r>
              <a:rPr b="1" lang="zh-TW" sz="4000">
                <a:solidFill>
                  <a:srgbClr val="B45F06"/>
                </a:solidFill>
                <a:latin typeface="DFKai-SB"/>
                <a:ea typeface="DFKai-SB"/>
                <a:cs typeface="DFKai-SB"/>
                <a:sym typeface="DFKai-SB"/>
              </a:rPr>
              <a:t>、功能展示-</a:t>
            </a:r>
            <a:r>
              <a:rPr b="1" lang="zh-TW" sz="4000">
                <a:solidFill>
                  <a:srgbClr val="B45F06"/>
                </a:solidFill>
                <a:latin typeface="DFKai-SB"/>
                <a:ea typeface="DFKai-SB"/>
                <a:cs typeface="DFKai-SB"/>
                <a:sym typeface="DFKai-SB"/>
              </a:rPr>
              <a:t>2</a:t>
            </a:r>
            <a:endParaRPr b="1" sz="4000">
              <a:solidFill>
                <a:srgbClr val="B45F06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4C1130"/>
              </a:buClr>
              <a:buSzPts val="2600"/>
              <a:buFont typeface="DFKai-SB"/>
              <a:buChar char="●"/>
            </a:pPr>
            <a:r>
              <a:rPr lang="zh-TW" sz="2600">
                <a:solidFill>
                  <a:srgbClr val="4C1130"/>
                </a:solidFill>
                <a:latin typeface="DFKai-SB"/>
                <a:ea typeface="DFKai-SB"/>
                <a:cs typeface="DFKai-SB"/>
                <a:sym typeface="DFKai-SB"/>
              </a:rPr>
              <a:t>景點分類篩選 → 使用者指定CategoryIds</a:t>
            </a:r>
            <a:endParaRPr sz="2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24" name="Google Shape;124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C1130"/>
              </a:buClr>
              <a:buSzPts val="2600"/>
              <a:buFont typeface="DFKai-SB"/>
              <a:buChar char="●"/>
            </a:pPr>
            <a:r>
              <a:rPr lang="zh-TW" sz="2600">
                <a:solidFill>
                  <a:srgbClr val="4C1130"/>
                </a:solidFill>
                <a:latin typeface="DFKai-SB"/>
                <a:ea typeface="DFKai-SB"/>
                <a:cs typeface="DFKai-SB"/>
                <a:sym typeface="DFKai-SB"/>
              </a:rPr>
              <a:t>景點視覺化 → Folium 圖層標示</a:t>
            </a:r>
            <a:endParaRPr sz="2600">
              <a:solidFill>
                <a:srgbClr val="4C113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4C113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125" name="Google Shape;125;p18" title="Folium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1600" y="2444367"/>
            <a:ext cx="4832398" cy="2363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 title="景點分類篩選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117876"/>
            <a:ext cx="3869239" cy="302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311700" y="228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600"/>
              </a:spcBef>
              <a:spcAft>
                <a:spcPts val="400"/>
              </a:spcAft>
              <a:buNone/>
            </a:pPr>
            <a:r>
              <a:rPr b="1" lang="zh-TW" sz="4000">
                <a:solidFill>
                  <a:srgbClr val="B45F06"/>
                </a:solidFill>
                <a:latin typeface="DFKai-SB"/>
                <a:ea typeface="DFKai-SB"/>
                <a:cs typeface="DFKai-SB"/>
                <a:sym typeface="DFKai-SB"/>
              </a:rPr>
              <a:t>四、使用情境設計</a:t>
            </a:r>
            <a:endParaRPr b="1" sz="4000">
              <a:solidFill>
                <a:srgbClr val="B45F06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graphicFrame>
        <p:nvGraphicFramePr>
          <p:cNvPr id="132" name="Google Shape;132;p19"/>
          <p:cNvGraphicFramePr/>
          <p:nvPr/>
        </p:nvGraphicFramePr>
        <p:xfrm>
          <a:off x="311700" y="120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{64D2C694-3826-4D6C-8E6C-4055F2506789}</a:tableStyleId>
              </a:tblPr>
              <a:tblGrid>
                <a:gridCol w="2745775"/>
                <a:gridCol w="2745775"/>
                <a:gridCol w="2745775"/>
              </a:tblGrid>
              <a:tr h="367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3000">
                          <a:solidFill>
                            <a:srgbClr val="07376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使用者類型</a:t>
                      </a:r>
                      <a:endParaRPr b="1" sz="3000">
                        <a:solidFill>
                          <a:srgbClr val="073763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3000">
                          <a:solidFill>
                            <a:srgbClr val="07376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使用情境</a:t>
                      </a:r>
                      <a:endParaRPr b="1" sz="3000">
                        <a:solidFill>
                          <a:srgbClr val="073763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3000">
                          <a:solidFill>
                            <a:srgbClr val="07376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功能需求</a:t>
                      </a:r>
                      <a:endParaRPr b="1" sz="3000">
                        <a:solidFill>
                          <a:srgbClr val="073763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856425">
                <a:tc>
                  <a:txBody>
                    <a:bodyPr/>
                    <a:lstStyle/>
                    <a:p>
                      <a:pPr indent="0" lvl="0" marL="336388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台灣旅客</a:t>
                      </a:r>
                      <a:endParaRPr sz="20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想知道附近有什麼博物館或文化地點</a:t>
                      </a:r>
                      <a:endParaRPr sz="20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可選擇「museums」分類，查 1 公里內景點</a:t>
                      </a:r>
                      <a:endParaRPr sz="20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856425">
                <a:tc>
                  <a:txBody>
                    <a:bodyPr/>
                    <a:lstStyle/>
                    <a:p>
                      <a:pPr indent="0" lvl="0" marL="336388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國外旅客</a:t>
                      </a:r>
                      <a:endParaRPr sz="20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想了解英文景點資訊並收藏</a:t>
                      </a:r>
                      <a:endParaRPr sz="20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支援英文名稱、圖片、網址連結查詢補充</a:t>
                      </a:r>
                      <a:endParaRPr sz="20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856425">
                <a:tc>
                  <a:txBody>
                    <a:bodyPr/>
                    <a:lstStyle/>
                    <a:p>
                      <a:pPr indent="0" lvl="0" marL="336388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教育用途</a:t>
                      </a:r>
                      <a:endParaRPr sz="20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想整合歷史地標資料做校外教學地圖</a:t>
                      </a:r>
                      <a:endParaRPr sz="20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可查指定景點類型並批次顯示</a:t>
                      </a:r>
                      <a:endParaRPr sz="20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311700" y="23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600"/>
              </a:spcBef>
              <a:spcAft>
                <a:spcPts val="400"/>
              </a:spcAft>
              <a:buNone/>
            </a:pPr>
            <a:r>
              <a:rPr b="1" lang="zh-TW" sz="4000">
                <a:solidFill>
                  <a:srgbClr val="B45F06"/>
                </a:solidFill>
                <a:latin typeface="DFKai-SB"/>
                <a:ea typeface="DFKai-SB"/>
                <a:cs typeface="DFKai-SB"/>
                <a:sym typeface="DFKai-SB"/>
              </a:rPr>
              <a:t>五、使用各個資料源的發現-1</a:t>
            </a:r>
            <a:endParaRPr b="1" sz="4000">
              <a:solidFill>
                <a:srgbClr val="B45F06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311700" y="1152475"/>
            <a:ext cx="3999900" cy="3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4C1130"/>
              </a:buClr>
              <a:buSzPts val="2600"/>
              <a:buFont typeface="DFKai-SB"/>
              <a:buChar char="●"/>
            </a:pPr>
            <a:r>
              <a:rPr lang="zh-TW" sz="2600">
                <a:solidFill>
                  <a:srgbClr val="4C1130"/>
                </a:solidFill>
                <a:latin typeface="DFKai-SB"/>
                <a:ea typeface="DFKai-SB"/>
                <a:cs typeface="DFKai-SB"/>
                <a:sym typeface="DFKai-SB"/>
              </a:rPr>
              <a:t>OpenTripMap API(優)</a:t>
            </a:r>
            <a:endParaRPr sz="2600">
              <a:solidFill>
                <a:srgbClr val="4C113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FKai-SB"/>
              <a:buChar char="○"/>
            </a:pP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來源多樣(包含OSM, Wikidata)</a:t>
            </a:r>
            <a:endParaRPr sz="2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FKai-SB"/>
              <a:buChar char="○"/>
            </a:pP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分類多且細膩</a:t>
            </a:r>
            <a:endParaRPr sz="2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FKai-SB"/>
              <a:buChar char="○"/>
            </a:pP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有rate分數值可供參考</a:t>
            </a:r>
            <a:endParaRPr sz="2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FKai-SB"/>
              <a:buChar char="○"/>
            </a:pP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離中心座標的距離一併帶出，不必再自己寫程式碼運算</a:t>
            </a:r>
            <a:endParaRPr sz="2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39" name="Google Shape;139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4C1130"/>
              </a:buClr>
              <a:buSzPts val="2600"/>
              <a:buFont typeface="DFKai-SB"/>
              <a:buChar char="●"/>
            </a:pPr>
            <a:r>
              <a:rPr lang="zh-TW" sz="2600">
                <a:solidFill>
                  <a:srgbClr val="4C1130"/>
                </a:solidFill>
                <a:latin typeface="DFKai-SB"/>
                <a:ea typeface="DFKai-SB"/>
                <a:cs typeface="DFKai-SB"/>
                <a:sym typeface="DFKai-SB"/>
              </a:rPr>
              <a:t>OpenTripMap API(缺)</a:t>
            </a:r>
            <a:endParaRPr sz="2600">
              <a:solidFill>
                <a:srgbClr val="4C113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937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FKai-SB"/>
              <a:buChar char="○"/>
            </a:pP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從2025年10月中開始抓不到任何資料，成為遺珠之憾</a:t>
            </a:r>
            <a:endParaRPr sz="2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1" title="OpenTripMap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775" y="152400"/>
            <a:ext cx="881444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311700" y="23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600"/>
              </a:spcBef>
              <a:spcAft>
                <a:spcPts val="400"/>
              </a:spcAft>
              <a:buNone/>
            </a:pPr>
            <a:r>
              <a:rPr b="1" lang="zh-TW" sz="4000">
                <a:solidFill>
                  <a:srgbClr val="B45F06"/>
                </a:solidFill>
                <a:latin typeface="DFKai-SB"/>
                <a:ea typeface="DFKai-SB"/>
                <a:cs typeface="DFKai-SB"/>
                <a:sym typeface="DFKai-SB"/>
              </a:rPr>
              <a:t>五</a:t>
            </a:r>
            <a:r>
              <a:rPr b="1" lang="zh-TW" sz="4000">
                <a:solidFill>
                  <a:srgbClr val="B45F06"/>
                </a:solidFill>
                <a:latin typeface="DFKai-SB"/>
                <a:ea typeface="DFKai-SB"/>
                <a:cs typeface="DFKai-SB"/>
                <a:sym typeface="DFKai-SB"/>
              </a:rPr>
              <a:t>、使用各個資料源的發現-</a:t>
            </a:r>
            <a:r>
              <a:rPr b="1" lang="zh-TW" sz="4000">
                <a:solidFill>
                  <a:srgbClr val="B45F06"/>
                </a:solidFill>
                <a:latin typeface="DFKai-SB"/>
                <a:ea typeface="DFKai-SB"/>
                <a:cs typeface="DFKai-SB"/>
                <a:sym typeface="DFKai-SB"/>
              </a:rPr>
              <a:t>2</a:t>
            </a:r>
            <a:endParaRPr b="1" sz="4000">
              <a:solidFill>
                <a:srgbClr val="B45F06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50" name="Google Shape;150;p22"/>
          <p:cNvSpPr txBox="1"/>
          <p:nvPr>
            <p:ph idx="1" type="body"/>
          </p:nvPr>
        </p:nvSpPr>
        <p:spPr>
          <a:xfrm>
            <a:off x="311700" y="1152475"/>
            <a:ext cx="3999900" cy="3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4C1130"/>
              </a:buClr>
              <a:buSzPts val="2600"/>
              <a:buFont typeface="DFKai-SB"/>
              <a:buChar char="●"/>
            </a:pPr>
            <a:r>
              <a:rPr lang="zh-TW" sz="2600">
                <a:solidFill>
                  <a:srgbClr val="4C1130"/>
                </a:solidFill>
                <a:latin typeface="DFKai-SB"/>
                <a:ea typeface="DFKai-SB"/>
                <a:cs typeface="DFKai-SB"/>
                <a:sym typeface="DFKai-SB"/>
              </a:rPr>
              <a:t>TDX運輸資料流通服務(觀光服務)</a:t>
            </a:r>
            <a:r>
              <a:rPr lang="zh-TW" sz="2600">
                <a:solidFill>
                  <a:srgbClr val="4C1130"/>
                </a:solidFill>
                <a:latin typeface="DFKai-SB"/>
                <a:ea typeface="DFKai-SB"/>
                <a:cs typeface="DFKai-SB"/>
                <a:sym typeface="DFKai-SB"/>
              </a:rPr>
              <a:t>(優)</a:t>
            </a:r>
            <a:endParaRPr sz="2600">
              <a:solidFill>
                <a:srgbClr val="4C113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FKai-SB"/>
              <a:buChar char="○"/>
            </a:pP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免費</a:t>
            </a:r>
            <a:endParaRPr sz="2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FKai-SB"/>
              <a:buChar char="○"/>
            </a:pP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網站有指導如何代入API，對新手友善</a:t>
            </a:r>
            <a:endParaRPr sz="2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FKai-SB"/>
              <a:buChar char="○"/>
            </a:pP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景點只分成</a:t>
            </a:r>
            <a:r>
              <a:rPr lang="zh-TW" sz="2600">
                <a:solidFill>
                  <a:srgbClr val="1155CC"/>
                </a:solidFill>
                <a:latin typeface="DFKai-SB"/>
                <a:ea typeface="DFKai-SB"/>
                <a:cs typeface="DFKai-SB"/>
                <a:sym typeface="DFKai-SB"/>
              </a:rPr>
              <a:t>"景點"</a:t>
            </a: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和</a:t>
            </a:r>
            <a:r>
              <a:rPr lang="zh-TW" sz="2600">
                <a:solidFill>
                  <a:srgbClr val="1155CC"/>
                </a:solidFill>
                <a:latin typeface="DFKai-SB"/>
                <a:ea typeface="DFKai-SB"/>
                <a:cs typeface="DFKai-SB"/>
                <a:sym typeface="DFKai-SB"/>
              </a:rPr>
              <a:t>"旅宿"</a:t>
            </a: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，若要找旅宿地點則會十分詳盡</a:t>
            </a:r>
            <a:endParaRPr sz="2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51" name="Google Shape;151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4C1130"/>
              </a:buClr>
              <a:buSzPts val="2600"/>
              <a:buFont typeface="DFKai-SB"/>
              <a:buChar char="●"/>
            </a:pPr>
            <a:r>
              <a:rPr lang="zh-TW" sz="2600">
                <a:solidFill>
                  <a:srgbClr val="4C1130"/>
                </a:solidFill>
                <a:latin typeface="DFKai-SB"/>
                <a:ea typeface="DFKai-SB"/>
                <a:cs typeface="DFKai-SB"/>
                <a:sym typeface="DFKai-SB"/>
              </a:rPr>
              <a:t>TDX運輸資料流通服務(觀光服務)</a:t>
            </a:r>
            <a:r>
              <a:rPr lang="zh-TW" sz="2600">
                <a:solidFill>
                  <a:srgbClr val="4C1130"/>
                </a:solidFill>
                <a:latin typeface="DFKai-SB"/>
                <a:ea typeface="DFKai-SB"/>
                <a:cs typeface="DFKai-SB"/>
                <a:sym typeface="DFKai-SB"/>
              </a:rPr>
              <a:t>(缺)</a:t>
            </a:r>
            <a:endParaRPr sz="2600">
              <a:solidFill>
                <a:srgbClr val="4C113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937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FKai-SB"/>
              <a:buChar char="○"/>
            </a:pP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景點僅將方圓1公里內的所有景點列出，但未細分，略顯可惜。</a:t>
            </a:r>
            <a:endParaRPr sz="2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937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FKai-SB"/>
              <a:buChar char="○"/>
            </a:pP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離中心座標距離須自行用程式碼運算</a:t>
            </a:r>
            <a:endParaRPr sz="2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3" title="TDX requests結果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692013"/>
            <a:ext cx="8991599" cy="3759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311700" y="23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600"/>
              </a:spcBef>
              <a:spcAft>
                <a:spcPts val="400"/>
              </a:spcAft>
              <a:buNone/>
            </a:pPr>
            <a:r>
              <a:rPr b="1" lang="zh-TW" sz="4000">
                <a:solidFill>
                  <a:srgbClr val="B45F06"/>
                </a:solidFill>
                <a:latin typeface="DFKai-SB"/>
                <a:ea typeface="DFKai-SB"/>
                <a:cs typeface="DFKai-SB"/>
                <a:sym typeface="DFKai-SB"/>
              </a:rPr>
              <a:t>五</a:t>
            </a:r>
            <a:r>
              <a:rPr b="1" lang="zh-TW" sz="4000">
                <a:solidFill>
                  <a:srgbClr val="B45F06"/>
                </a:solidFill>
                <a:latin typeface="DFKai-SB"/>
                <a:ea typeface="DFKai-SB"/>
                <a:cs typeface="DFKai-SB"/>
                <a:sym typeface="DFKai-SB"/>
              </a:rPr>
              <a:t>、使用各個資料源的發現-3</a:t>
            </a:r>
            <a:endParaRPr b="1" sz="4000">
              <a:solidFill>
                <a:srgbClr val="B45F06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311700" y="1152475"/>
            <a:ext cx="3999900" cy="3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81317" lvl="0" marL="457200" rtl="0" algn="l">
              <a:spcBef>
                <a:spcPts val="0"/>
              </a:spcBef>
              <a:spcAft>
                <a:spcPts val="0"/>
              </a:spcAft>
              <a:buClr>
                <a:srgbClr val="4C1130"/>
              </a:buClr>
              <a:buSzPct val="100000"/>
              <a:buFont typeface="DFKai-SB"/>
              <a:buChar char="●"/>
            </a:pPr>
            <a:r>
              <a:rPr lang="zh-TW" sz="2600">
                <a:solidFill>
                  <a:srgbClr val="4C1130"/>
                </a:solidFill>
                <a:latin typeface="DFKai-SB"/>
                <a:ea typeface="DFKai-SB"/>
                <a:cs typeface="DFKai-SB"/>
                <a:sym typeface="DFKai-SB"/>
              </a:rPr>
              <a:t>臺北旅遊網OpenAPI</a:t>
            </a:r>
            <a:r>
              <a:rPr lang="zh-TW" sz="2600">
                <a:solidFill>
                  <a:srgbClr val="4C1130"/>
                </a:solidFill>
                <a:latin typeface="DFKai-SB"/>
                <a:ea typeface="DFKai-SB"/>
                <a:cs typeface="DFKai-SB"/>
                <a:sym typeface="DFKai-SB"/>
              </a:rPr>
              <a:t>(優)</a:t>
            </a:r>
            <a:endParaRPr sz="2600">
              <a:solidFill>
                <a:srgbClr val="4C113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8131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DFKai-SB"/>
              <a:buChar char="○"/>
            </a:pP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免費</a:t>
            </a:r>
            <a:endParaRPr sz="2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8131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DFKai-SB"/>
              <a:buChar char="○"/>
            </a:pP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將景點進一步分類</a:t>
            </a:r>
            <a:endParaRPr sz="2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8131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DFKai-SB"/>
              <a:buChar char="○"/>
            </a:pP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有該景點詳細介紹及圖片、網址等相關資訊</a:t>
            </a:r>
            <a:endParaRPr sz="2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8131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DFKai-SB"/>
              <a:buChar char="○"/>
            </a:pP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輸入各欄位所需資料後，便可下載json檔供後續資料分析使用</a:t>
            </a:r>
            <a:endParaRPr sz="2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63" name="Google Shape;163;p24"/>
          <p:cNvSpPr txBox="1"/>
          <p:nvPr>
            <p:ph idx="2" type="body"/>
          </p:nvPr>
        </p:nvSpPr>
        <p:spPr>
          <a:xfrm>
            <a:off x="4572000" y="1152475"/>
            <a:ext cx="4109100" cy="3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4C1130"/>
              </a:buClr>
              <a:buSzPts val="2600"/>
              <a:buFont typeface="DFKai-SB"/>
              <a:buChar char="●"/>
            </a:pPr>
            <a:r>
              <a:rPr lang="zh-TW" sz="2600">
                <a:solidFill>
                  <a:srgbClr val="4C1130"/>
                </a:solidFill>
                <a:latin typeface="DFKai-SB"/>
                <a:ea typeface="DFKai-SB"/>
                <a:cs typeface="DFKai-SB"/>
                <a:sym typeface="DFKai-SB"/>
              </a:rPr>
              <a:t>臺北旅遊網OpenAPI</a:t>
            </a:r>
            <a:r>
              <a:rPr lang="zh-TW" sz="2600">
                <a:solidFill>
                  <a:srgbClr val="4C1130"/>
                </a:solidFill>
                <a:latin typeface="DFKai-SB"/>
                <a:ea typeface="DFKai-SB"/>
                <a:cs typeface="DFKai-SB"/>
                <a:sym typeface="DFKai-SB"/>
              </a:rPr>
              <a:t>(缺)</a:t>
            </a:r>
            <a:endParaRPr sz="2600">
              <a:solidFill>
                <a:srgbClr val="4C113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937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FKai-SB"/>
              <a:buChar char="○"/>
            </a:pP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沒有相關文件列出所有景點id及相對應的名稱，須自己觀察再進行篩選</a:t>
            </a:r>
            <a:endParaRPr sz="2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937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FKai-SB"/>
              <a:buChar char="○"/>
            </a:pP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離中心座標距離須自行用程式碼運算</a:t>
            </a:r>
            <a:endParaRPr sz="2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937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FKai-SB"/>
              <a:buChar char="○"/>
            </a:pPr>
            <a:r>
              <a:rPr lang="zh-TW"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有些縣市有OpenAPI可查找該縣市景點，但未有全台整合的OpenAPI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5" title="Taipei OpenAPI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24613"/>
            <a:ext cx="8839200" cy="4094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600"/>
              </a:spcBef>
              <a:spcAft>
                <a:spcPts val="400"/>
              </a:spcAft>
              <a:buNone/>
            </a:pPr>
            <a:r>
              <a:rPr b="1" lang="zh-TW" sz="4000">
                <a:solidFill>
                  <a:srgbClr val="B45F06"/>
                </a:solidFill>
                <a:latin typeface="DFKai-SB"/>
                <a:ea typeface="DFKai-SB"/>
                <a:cs typeface="DFKai-SB"/>
                <a:sym typeface="DFKai-SB"/>
              </a:rPr>
              <a:t>六</a:t>
            </a:r>
            <a:r>
              <a:rPr b="1" lang="zh-TW" sz="4000">
                <a:solidFill>
                  <a:srgbClr val="B45F06"/>
                </a:solidFill>
                <a:latin typeface="DFKai-SB"/>
                <a:ea typeface="DFKai-SB"/>
                <a:cs typeface="DFKai-SB"/>
                <a:sym typeface="DFKai-SB"/>
              </a:rPr>
              <a:t>、</a:t>
            </a:r>
            <a:r>
              <a:rPr b="1" lang="zh-TW" sz="4000">
                <a:solidFill>
                  <a:srgbClr val="B45F06"/>
                </a:solidFill>
                <a:latin typeface="DFKai-SB"/>
                <a:ea typeface="DFKai-SB"/>
                <a:cs typeface="DFKai-SB"/>
                <a:sym typeface="DFKai-SB"/>
              </a:rPr>
              <a:t>結論</a:t>
            </a:r>
            <a:endParaRPr b="1" sz="4000">
              <a:solidFill>
                <a:srgbClr val="B45F06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81317" lvl="0" marL="4572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ct val="100000"/>
              <a:buFont typeface="DFKai-SB"/>
              <a:buChar char="●"/>
            </a:pPr>
            <a:r>
              <a:rPr lang="zh-TW" sz="2600" u="sng">
                <a:solidFill>
                  <a:schemeClr val="hlink"/>
                </a:solidFill>
                <a:latin typeface="DFKai-SB"/>
                <a:ea typeface="DFKai-SB"/>
                <a:cs typeface="DFKai-SB"/>
                <a:sym typeface="DFKai-SB"/>
                <a:hlinkClick r:id="rId3"/>
              </a:rPr>
              <a:t>https://medium.com/@d0988906003/python-%E6%89%BE%E9%A9%9A%E5%96%9C%E9%82%84%E6%98%AF%E6%89%BE%E9%99%84%E8%BF%91-%E8%AE%93-line-%E6%97%85%E9%81%8A%E6%A9%9F%E5%99%A8%E4%BA%BA%E6%8E%A8%E8%96%A6%E6%99%AF%E9%BB%9E%E7%B5%A6%E4%BD%A0-%E4%B8%8A-d68d354bbb01</a:t>
            </a:r>
            <a:endParaRPr sz="2600">
              <a:solidFill>
                <a:srgbClr val="274E13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81317" lvl="0" marL="4572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ct val="100000"/>
              <a:buFont typeface="DFKai-SB"/>
              <a:buChar char="●"/>
            </a:pPr>
            <a:r>
              <a:rPr lang="zh-TW" sz="2600">
                <a:solidFill>
                  <a:srgbClr val="274E13"/>
                </a:solidFill>
                <a:latin typeface="DFKai-SB"/>
                <a:ea typeface="DFKai-SB"/>
                <a:cs typeface="DFKai-SB"/>
                <a:sym typeface="DFKai-SB"/>
              </a:rPr>
              <a:t>若能參考上面網站，做成LINE旅遊機器人，或將各縣市OpenAPI整合成全台灣旅遊OpenAPI，將會是旅遊建議的一大利器。</a:t>
            </a:r>
            <a:endParaRPr sz="2600">
              <a:solidFill>
                <a:srgbClr val="274E13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